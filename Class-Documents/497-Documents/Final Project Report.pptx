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Inter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Inter-bold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676ab34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d676ab34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676ab341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676ab341e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6b46fcef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d6b46fcef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676ab341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676ab341e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6b46fcef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d6b46fcef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676ab341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676ab341e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676ab341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d676ab341e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676ab341e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676ab341e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676ab341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676ab341e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676ab341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676ab341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676ab341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676ab341e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7718738b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97718738b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7718738b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97718738b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676ab341e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d676ab341e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676ab341e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676ab341e_0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676ab341e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d676ab341e_0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770b2905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9770b29050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770b2905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9770b29050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d80299127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d80299127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676ab341e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d676ab341e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676ab341e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d676ab341e_0_3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0280" y="690569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77051" y="1958309"/>
            <a:ext cx="85899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OpenSpace and Climate </a:t>
            </a:r>
            <a:r>
              <a:rPr b="1" lang="en" sz="5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Reanalyzer</a:t>
            </a:r>
            <a:r>
              <a:rPr b="1" lang="en" sz="5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Interface</a:t>
            </a:r>
            <a:endParaRPr sz="5600"/>
          </a:p>
        </p:txBody>
      </p:sp>
      <p:sp>
        <p:nvSpPr>
          <p:cNvPr id="57" name="Google Shape;57;p13"/>
          <p:cNvSpPr txBox="1"/>
          <p:nvPr/>
        </p:nvSpPr>
        <p:spPr>
          <a:xfrm>
            <a:off x="3584400" y="3695552"/>
            <a:ext cx="197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V-Model Violets</a:t>
            </a:r>
            <a:endParaRPr b="1" sz="1100"/>
          </a:p>
        </p:txBody>
      </p:sp>
      <p:sp>
        <p:nvSpPr>
          <p:cNvPr id="58" name="Google Shape;58;p13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61" name="Google Shape;61;p13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62" name="Google Shape;62;p13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63" name="Google Shape;63;p13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64" name="Google Shape;64;p13"/>
          <p:cNvSpPr txBox="1"/>
          <p:nvPr/>
        </p:nvSpPr>
        <p:spPr>
          <a:xfrm>
            <a:off x="44489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65" name="Google Shape;65;p13"/>
          <p:cNvSpPr txBox="1"/>
          <p:nvPr/>
        </p:nvSpPr>
        <p:spPr>
          <a:xfrm>
            <a:off x="5103975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66" name="Google Shape;66;p13"/>
          <p:cNvSpPr txBox="1"/>
          <p:nvPr/>
        </p:nvSpPr>
        <p:spPr>
          <a:xfrm>
            <a:off x="62441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6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277038" y="1157913"/>
            <a:ext cx="4671900" cy="2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Background</a:t>
            </a:r>
            <a:endParaRPr b="1" sz="5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b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 b="1" sz="5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77" name="Google Shape;77;p14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78" name="Google Shape;78;p14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79" name="Google Shape;79;p14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80" name="Google Shape;80;p14"/>
          <p:cNvSpPr txBox="1"/>
          <p:nvPr/>
        </p:nvSpPr>
        <p:spPr>
          <a:xfrm>
            <a:off x="44489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81" name="Google Shape;81;p14"/>
          <p:cNvSpPr txBox="1"/>
          <p:nvPr/>
        </p:nvSpPr>
        <p:spPr>
          <a:xfrm>
            <a:off x="5103975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82" name="Google Shape;82;p14"/>
          <p:cNvSpPr txBox="1"/>
          <p:nvPr/>
        </p:nvSpPr>
        <p:spPr>
          <a:xfrm>
            <a:off x="62441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395025" y="825825"/>
            <a:ext cx="8399700" cy="3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Climate data from Climate Reanalyzer was previously only available through the website itself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Abundance of climate data but limited ways to interact with it</a:t>
            </a:r>
            <a:endParaRPr b="1" i="1"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 b="1" i="1"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Create a platform so maps from Climate Reanalyzer can be viewed in the OpenSpace application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Enable the visualization of Climate Reanalyzer maps in planetariums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Provide a new tool for exploring climate datasets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Promote immersive learning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92" name="Google Shape;92;p15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93" name="Google Shape;93;p15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94" name="Google Shape;94;p15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95" name="Google Shape;95;p15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96" name="Google Shape;96;p15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97" name="Google Shape;97;p15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623313" y="825825"/>
            <a:ext cx="4941300" cy="3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is Climate Reanalyzer?</a:t>
            </a:r>
            <a:endParaRPr b="1" i="1"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1"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Climate reanalysis and weather maps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Browsing historic climate data by dataset, variable, and time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Visualizing weather events and forecasts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Viewing climate trends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107" name="Google Shape;107;p16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108" name="Google Shape;108;p16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109" name="Google Shape;109;p16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110" name="Google Shape;110;p16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111" name="Google Shape;111;p16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112" name="Google Shape;112;p16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  <p:pic>
        <p:nvPicPr>
          <p:cNvPr id="113" name="Google Shape;11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4274" y="1425312"/>
            <a:ext cx="3240500" cy="229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433726" y="839825"/>
            <a:ext cx="5500200" cy="3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is Openspace?</a:t>
            </a:r>
            <a:endParaRPr b="1" i="1"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1"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Interactive space data visualization application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Project maps onto 3D globe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○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Images are split into tiles, which are placed on the globe for interactive viewing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i="1"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Project visualizations onto planetarium screens</a:t>
            </a:r>
            <a:endParaRPr i="1"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123" name="Google Shape;123;p17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124" name="Google Shape;124;p17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125" name="Google Shape;125;p17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126" name="Google Shape;126;p17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127" name="Google Shape;127;p17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128" name="Google Shape;128;p17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  <p:pic>
        <p:nvPicPr>
          <p:cNvPr id="129" name="Google Shape;12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8975" y="648248"/>
            <a:ext cx="2734224" cy="153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title="Openspaceprecipitation.jpg"/>
          <p:cNvPicPr preferRelativeResize="0"/>
          <p:nvPr/>
        </p:nvPicPr>
        <p:blipFill rotWithShape="1">
          <a:blip r:embed="rId5">
            <a:alphaModFix/>
          </a:blip>
          <a:srcRect b="0" l="23969" r="23675" t="0"/>
          <a:stretch/>
        </p:blipFill>
        <p:spPr>
          <a:xfrm>
            <a:off x="6328575" y="2186250"/>
            <a:ext cx="2614625" cy="2809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139" name="Google Shape;139;p18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140" name="Google Shape;140;p18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141" name="Google Shape;141;p18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142" name="Google Shape;142;p18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143" name="Google Shape;143;p18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144" name="Google Shape;144;p18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  <p:sp>
        <p:nvSpPr>
          <p:cNvPr id="145" name="Google Shape;145;p18"/>
          <p:cNvSpPr txBox="1"/>
          <p:nvPr/>
        </p:nvSpPr>
        <p:spPr>
          <a:xfrm>
            <a:off x="492313" y="684050"/>
            <a:ext cx="5298300" cy="3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675" lIns="104675" spcFirstLastPara="1" rIns="104675" wrap="square" tIns="104675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Project Description</a:t>
            </a:r>
            <a:endParaRPr b="1" i="1" sz="3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Deliver climate/weather data from Climate Reanalyzer to OpenSpace</a:t>
            </a:r>
            <a:endParaRPr i="1" sz="2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315" lvl="0" marL="2286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2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Create image tile server to supply map segments to OpenSpace</a:t>
            </a:r>
            <a:endParaRPr i="1" sz="2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315" lvl="0" marL="228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2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Create interface to run within OpenSpace to browse and view available maps</a:t>
            </a:r>
            <a:endParaRPr i="1" sz="2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Visualize climate reanalyzer maps in planetariums via OpenSpace</a:t>
            </a:r>
            <a:endParaRPr i="1" sz="2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i="1" sz="15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8058625" y="4761288"/>
            <a:ext cx="181800" cy="142800"/>
          </a:xfrm>
          <a:prstGeom prst="rect">
            <a:avLst/>
          </a:prstGeom>
          <a:solidFill>
            <a:schemeClr val="dk1"/>
          </a:solidFill>
          <a:ln cap="flat" cmpd="sng" w="4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7" name="Google Shape;147;p18"/>
          <p:cNvCxnSpPr/>
          <p:nvPr/>
        </p:nvCxnSpPr>
        <p:spPr>
          <a:xfrm flipH="1">
            <a:off x="7145138" y="2158650"/>
            <a:ext cx="3000" cy="826200"/>
          </a:xfrm>
          <a:prstGeom prst="straightConnector1">
            <a:avLst/>
          </a:prstGeom>
          <a:noFill/>
          <a:ln cap="flat" cmpd="sng" w="571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8"/>
          <p:cNvSpPr/>
          <p:nvPr/>
        </p:nvSpPr>
        <p:spPr>
          <a:xfrm>
            <a:off x="8058625" y="4750638"/>
            <a:ext cx="181800" cy="142800"/>
          </a:xfrm>
          <a:prstGeom prst="rect">
            <a:avLst/>
          </a:prstGeom>
          <a:solidFill>
            <a:schemeClr val="dk1"/>
          </a:solidFill>
          <a:ln cap="flat" cmpd="sng" w="47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9" name="Google Shape;149;p18" title="IMG_338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4525" y="3067250"/>
            <a:ext cx="2164239" cy="168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3162" y="613725"/>
            <a:ext cx="2066974" cy="14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6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320463" y="1909038"/>
            <a:ext cx="46719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Requirements</a:t>
            </a:r>
            <a:endParaRPr sz="5400"/>
          </a:p>
        </p:txBody>
      </p:sp>
      <p:sp>
        <p:nvSpPr>
          <p:cNvPr id="158" name="Google Shape;158;p19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/>
          </a:p>
        </p:txBody>
      </p:sp>
      <p:sp>
        <p:nvSpPr>
          <p:cNvPr id="160" name="Google Shape;160;p19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162" name="Google Shape;162;p19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163" name="Google Shape;163;p19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164" name="Google Shape;164;p19"/>
          <p:cNvSpPr txBox="1"/>
          <p:nvPr/>
        </p:nvSpPr>
        <p:spPr>
          <a:xfrm>
            <a:off x="44489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165" name="Google Shape;165;p19"/>
          <p:cNvSpPr txBox="1"/>
          <p:nvPr/>
        </p:nvSpPr>
        <p:spPr>
          <a:xfrm>
            <a:off x="5103975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166" name="Google Shape;166;p19"/>
          <p:cNvSpPr txBox="1"/>
          <p:nvPr/>
        </p:nvSpPr>
        <p:spPr>
          <a:xfrm>
            <a:off x="62441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720600" y="1776663"/>
            <a:ext cx="7702800" cy="29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 fontScale="55000" lnSpcReduction="20000"/>
          </a:bodyPr>
          <a:lstStyle/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Map-Tile Conversion: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Highest priority requirement. Our program must be able to convert to a tile-based format for OpenSpace to use successfully.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System Listing Climate Reanalyzer Maps: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The program has to have a way for users to browse for maps to display within OpenSpace. Through searching or with a calendar picker.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Multiple Tile Levels: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The tiled index of maps must be created in a way that it contains multiple zoom levels for higher resolutions when zoomed into the globe within OpenSpace.</a:t>
            </a:r>
            <a:b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Downloading and Saving Tile Files: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The program should be able to download files from our server to use locally, for instance, where planetariums may not have consistent internet connections.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Animating Maps and Tile Data: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Our maps need to be created in a way that allows users to create short animated slideshows of weather events.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177" name="Google Shape;177;p20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178" name="Google Shape;178;p20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179" name="Google Shape;179;p20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180" name="Google Shape;180;p20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181" name="Google Shape;181;p20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  <p:sp>
        <p:nvSpPr>
          <p:cNvPr id="182" name="Google Shape;182;p20"/>
          <p:cNvSpPr txBox="1"/>
          <p:nvPr/>
        </p:nvSpPr>
        <p:spPr>
          <a:xfrm>
            <a:off x="1345725" y="485013"/>
            <a:ext cx="64527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Functional Requirements</a:t>
            </a:r>
            <a:endParaRPr i="1"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720600" y="1776663"/>
            <a:ext cx="7702800" cy="29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 fontScale="55000" lnSpcReduction="20000"/>
          </a:bodyPr>
          <a:lstStyle/>
          <a:p>
            <a:pPr indent="-1841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Performance: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This category focuses on ensuring our project runs smoothly, maintains 99% uptime, and recovers from errors or maintenance restarts quickly. 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Platforms: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This category ensures our project works on windows machines and on Chrome, our target browser. This also includes making sure our system interacts correctly with our server and with OpenSpace.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User Experience: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This category focuses on making sure the user experience is smooth, with an easy-to-understand UI.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Error Handling: 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This category of requirements is to make sure we have a robust system for error handling. 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8415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Code Standards: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Our coding standards requirements are to make sure our code is easy to read and understand. </a:t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193" name="Google Shape;193;p21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194" name="Google Shape;194;p21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195" name="Google Shape;195;p21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196" name="Google Shape;196;p21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197" name="Google Shape;197;p21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  <p:sp>
        <p:nvSpPr>
          <p:cNvPr id="198" name="Google Shape;198;p21"/>
          <p:cNvSpPr txBox="1"/>
          <p:nvPr/>
        </p:nvSpPr>
        <p:spPr>
          <a:xfrm>
            <a:off x="1345725" y="485013"/>
            <a:ext cx="64527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Non-Functional Requirements</a:t>
            </a:r>
            <a:endParaRPr i="1"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6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320463" y="1865913"/>
            <a:ext cx="46719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Design</a:t>
            </a:r>
            <a:endParaRPr sz="5800"/>
          </a:p>
        </p:txBody>
      </p:sp>
      <p:sp>
        <p:nvSpPr>
          <p:cNvPr id="206" name="Google Shape;206;p22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/>
          </a:p>
        </p:txBody>
      </p:sp>
      <p:sp>
        <p:nvSpPr>
          <p:cNvPr id="208" name="Google Shape;208;p22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209" name="Google Shape;209;p22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210" name="Google Shape;210;p22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212" name="Google Shape;212;p22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213" name="Google Shape;213;p22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214" name="Google Shape;214;p22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5358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08025" y="492675"/>
            <a:ext cx="4227600" cy="46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Project Architecture Overview</a:t>
            </a:r>
            <a:r>
              <a:rPr b="1" i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Architecture differs from traditional single frontend–backend models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Designed as two cooperating application components rather than one monolithic app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Image Tile Server</a:t>
            </a:r>
            <a:endParaRPr b="1"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Hosts large, translated images served as tiles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Provides URL-accessible image data for other system components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Acts as the primary data source for visualization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User Interface Component</a:t>
            </a:r>
            <a:endParaRPr b="1"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Serves as a separate application that consumes the tile server’s data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Integrates with OpenSpace imports for seamless use inside the </a:t>
            </a:r>
            <a:r>
              <a:rPr i="1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Open Space</a:t>
            </a: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environment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System Interaction</a:t>
            </a:r>
            <a:endParaRPr b="1"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UI fetches image tiles directly from the tile server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96533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i="1"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Both components work together to deliver a unified OpenSpace experience</a:t>
            </a:r>
            <a:endParaRPr i="1"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224" name="Google Shape;224;p23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225" name="Google Shape;225;p23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227" name="Google Shape;227;p23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228" name="Google Shape;228;p23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229" name="Google Shape;229;p23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  <p:pic>
        <p:nvPicPr>
          <p:cNvPr id="230" name="Google Shape;230;p23" title="System architecture flowchart for climate 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3900" y="778200"/>
            <a:ext cx="4533350" cy="29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4700100" y="3842850"/>
            <a:ext cx="40596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-"/>
            </a:pPr>
            <a:r>
              <a:rPr lang="en" sz="1800">
                <a:solidFill>
                  <a:schemeClr val="lt1"/>
                </a:solidFill>
              </a:rPr>
              <a:t>False Starts.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277013" y="2216825"/>
            <a:ext cx="4671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Testing</a:t>
            </a:r>
            <a:endParaRPr sz="5800"/>
          </a:p>
        </p:txBody>
      </p:sp>
      <p:sp>
        <p:nvSpPr>
          <p:cNvPr id="239" name="Google Shape;239;p24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/>
          </a:p>
        </p:txBody>
      </p:sp>
      <p:sp>
        <p:nvSpPr>
          <p:cNvPr id="241" name="Google Shape;241;p24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242" name="Google Shape;242;p24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243" name="Google Shape;243;p24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245" name="Google Shape;245;p24"/>
          <p:cNvSpPr txBox="1"/>
          <p:nvPr/>
        </p:nvSpPr>
        <p:spPr>
          <a:xfrm>
            <a:off x="44489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246" name="Google Shape;246;p24"/>
          <p:cNvSpPr txBox="1"/>
          <p:nvPr/>
        </p:nvSpPr>
        <p:spPr>
          <a:xfrm>
            <a:off x="5103975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247" name="Google Shape;247;p24"/>
          <p:cNvSpPr txBox="1"/>
          <p:nvPr/>
        </p:nvSpPr>
        <p:spPr>
          <a:xfrm>
            <a:off x="62441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720600" y="919925"/>
            <a:ext cx="7702800" cy="3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 fontScale="70000"/>
          </a:bodyPr>
          <a:lstStyle/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GitHub Actions Integration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Both the Playwright end-to-end suite and the unit testing suite are fully automated and run on every push via GitHub Actions, alongside the commit message validator.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Playwright End-to-End Tests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100% coverage of user-facing actions, ensuring every interaction a user can take has been tested and verified to work as expected.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Unit Tests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Full coverage of all implemented functions on both the frontend and backend, validating component behavior and preventing regressions as the codebase evolves.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Tile Server URL Checks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Automated verification that tile server image sets are accessible via URL, catching broken links and misconfigurations before they reach deployment.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Strengthened CI/CD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The combined test suite acts as a reliable safety net, giving the team confidence that the pipeline will catch issues at every stage before they ship.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257" name="Google Shape;257;p25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258" name="Google Shape;258;p25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260" name="Google Shape;260;p25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261" name="Google Shape;261;p25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262" name="Google Shape;262;p25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277013" y="2216825"/>
            <a:ext cx="4671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DevOps</a:t>
            </a:r>
            <a:endParaRPr sz="5800"/>
          </a:p>
        </p:txBody>
      </p:sp>
      <p:sp>
        <p:nvSpPr>
          <p:cNvPr id="270" name="Google Shape;270;p26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/>
          </a:p>
        </p:txBody>
      </p:sp>
      <p:sp>
        <p:nvSpPr>
          <p:cNvPr id="272" name="Google Shape;272;p26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273" name="Google Shape;273;p26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274" name="Google Shape;274;p26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276" name="Google Shape;276;p26"/>
          <p:cNvSpPr txBox="1"/>
          <p:nvPr/>
        </p:nvSpPr>
        <p:spPr>
          <a:xfrm>
            <a:off x="44489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277" name="Google Shape;277;p26"/>
          <p:cNvSpPr txBox="1"/>
          <p:nvPr/>
        </p:nvSpPr>
        <p:spPr>
          <a:xfrm>
            <a:off x="5103975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278" name="Google Shape;278;p26"/>
          <p:cNvSpPr txBox="1"/>
          <p:nvPr/>
        </p:nvSpPr>
        <p:spPr>
          <a:xfrm>
            <a:off x="62441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720600" y="919925"/>
            <a:ext cx="7702800" cy="3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 fontScale="92500" lnSpcReduction="20000"/>
          </a:bodyPr>
          <a:lstStyle/>
          <a:p>
            <a:pPr indent="-231775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CI/CD Pipeline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Enforces consistency across the codebase and catches issues early by automatically running checks on every push and pull request, preventing broken code from reaching production.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1775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Commit Message Validator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Standardizes commit formatting across all contributors, improving traceability and making the project history easier to navigate and audit.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1775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Code Reviews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All changes go through peer review to ensure quality, distribute knowledge across the team, and surface bugs before they're merged.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1775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Husky Pre-Commit Hooks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— Linting and style checks run automatically before every commit, keeping the codebase clean and consistent without relying on manual discipline.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7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86" name="Google Shape;286;p27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288" name="Google Shape;288;p27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289" name="Google Shape;289;p27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412267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291" name="Google Shape;291;p27"/>
          <p:cNvSpPr txBox="1"/>
          <p:nvPr/>
        </p:nvSpPr>
        <p:spPr>
          <a:xfrm>
            <a:off x="45251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292" name="Google Shape;292;p27"/>
          <p:cNvSpPr txBox="1"/>
          <p:nvPr/>
        </p:nvSpPr>
        <p:spPr>
          <a:xfrm>
            <a:off x="5180175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293" name="Google Shape;293;p27"/>
          <p:cNvSpPr txBox="1"/>
          <p:nvPr/>
        </p:nvSpPr>
        <p:spPr>
          <a:xfrm>
            <a:off x="6320325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6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-394884" y="1634250"/>
            <a:ext cx="6765000" cy="2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 Interface </a:t>
            </a:r>
            <a:endParaRPr b="1" sz="5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&amp;</a:t>
            </a:r>
            <a:endParaRPr b="1" sz="58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</a:t>
            </a: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5800"/>
          </a:p>
        </p:txBody>
      </p:sp>
      <p:sp>
        <p:nvSpPr>
          <p:cNvPr id="301" name="Google Shape;301;p28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02" name="Google Shape;302;p28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/>
          </a:p>
        </p:txBody>
      </p:sp>
      <p:sp>
        <p:nvSpPr>
          <p:cNvPr id="303" name="Google Shape;303;p28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304" name="Google Shape;304;p28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305" name="Google Shape;305;p28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306" name="Google Shape;306;p28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4489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308" name="Google Shape;308;p28"/>
          <p:cNvSpPr txBox="1"/>
          <p:nvPr/>
        </p:nvSpPr>
        <p:spPr>
          <a:xfrm>
            <a:off x="5103975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309" name="Google Shape;309;p28"/>
          <p:cNvSpPr txBox="1"/>
          <p:nvPr/>
        </p:nvSpPr>
        <p:spPr>
          <a:xfrm>
            <a:off x="62441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354" y="6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320463" y="1857131"/>
            <a:ext cx="4671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Conclusions</a:t>
            </a:r>
            <a:endParaRPr sz="5800"/>
          </a:p>
        </p:txBody>
      </p:sp>
      <p:sp>
        <p:nvSpPr>
          <p:cNvPr id="317" name="Google Shape;317;p29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/>
          </a:p>
        </p:txBody>
      </p:sp>
      <p:sp>
        <p:nvSpPr>
          <p:cNvPr id="319" name="Google Shape;319;p29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320" name="Google Shape;320;p29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321" name="Google Shape;321;p29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322" name="Google Shape;322;p29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4480147" y="142025"/>
            <a:ext cx="71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CONCLUSIONS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5281302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325" name="Google Shape;325;p29"/>
          <p:cNvSpPr txBox="1"/>
          <p:nvPr/>
        </p:nvSpPr>
        <p:spPr>
          <a:xfrm>
            <a:off x="6421452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 txBox="1"/>
          <p:nvPr/>
        </p:nvSpPr>
        <p:spPr>
          <a:xfrm>
            <a:off x="720600" y="1776663"/>
            <a:ext cx="7702800" cy="29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Downloading and Saving Tile Files: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Low priority requirement. Offline use was not a huge concern from the start and was not met.</a:t>
            </a:r>
            <a:b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Animating Maps and Tile Data:</a:t>
            </a: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Stretch goal requirement. This had been talked about early on as something cool if we had time.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336" name="Google Shape;336;p30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337" name="Google Shape;337;p30"/>
          <p:cNvSpPr txBox="1"/>
          <p:nvPr/>
        </p:nvSpPr>
        <p:spPr>
          <a:xfrm>
            <a:off x="1345725" y="485013"/>
            <a:ext cx="64527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Unmet Requirements</a:t>
            </a:r>
            <a:endParaRPr i="1"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417042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39" name="Google Shape;339;p30"/>
          <p:cNvSpPr txBox="1"/>
          <p:nvPr/>
        </p:nvSpPr>
        <p:spPr>
          <a:xfrm>
            <a:off x="4604097" y="218225"/>
            <a:ext cx="71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CONCLUSIONS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5405252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341" name="Google Shape;341;p30"/>
          <p:cNvSpPr txBox="1"/>
          <p:nvPr/>
        </p:nvSpPr>
        <p:spPr>
          <a:xfrm>
            <a:off x="6545402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 txBox="1"/>
          <p:nvPr/>
        </p:nvSpPr>
        <p:spPr>
          <a:xfrm>
            <a:off x="720600" y="1776675"/>
            <a:ext cx="3883500" cy="29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Went Well</a:t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Communication</a:t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Overall Development</a:t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Motivation/Passion</a:t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Technical aspects of Server Integration</a:t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353237" y="2182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1446000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2110237" y="2182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3576463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352" name="Google Shape;352;p31"/>
          <p:cNvSpPr txBox="1"/>
          <p:nvPr/>
        </p:nvSpPr>
        <p:spPr>
          <a:xfrm>
            <a:off x="2982519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353" name="Google Shape;353;p31"/>
          <p:cNvSpPr txBox="1"/>
          <p:nvPr/>
        </p:nvSpPr>
        <p:spPr>
          <a:xfrm>
            <a:off x="1345725" y="485013"/>
            <a:ext cx="6452700" cy="12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Went Well vs What Didn’t</a:t>
            </a:r>
            <a:endParaRPr i="1" sz="3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4170425" y="2182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4604097" y="218225"/>
            <a:ext cx="71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CONCLUSIONS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356" name="Google Shape;356;p31"/>
          <p:cNvSpPr txBox="1"/>
          <p:nvPr/>
        </p:nvSpPr>
        <p:spPr>
          <a:xfrm>
            <a:off x="5405252" y="2182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357" name="Google Shape;357;p31"/>
          <p:cNvSpPr txBox="1"/>
          <p:nvPr/>
        </p:nvSpPr>
        <p:spPr>
          <a:xfrm>
            <a:off x="6545402" y="2182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  <p:sp>
        <p:nvSpPr>
          <p:cNvPr id="358" name="Google Shape;358;p31"/>
          <p:cNvSpPr txBox="1"/>
          <p:nvPr/>
        </p:nvSpPr>
        <p:spPr>
          <a:xfrm>
            <a:off x="4572000" y="1776675"/>
            <a:ext cx="3883500" cy="29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Didn’t Go Well</a:t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b="1"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Timeline</a:t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○"/>
            </a:pP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Server Integration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○"/>
            </a:pP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 Accumulation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1"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6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2"/>
          <p:cNvSpPr txBox="1"/>
          <p:nvPr/>
        </p:nvSpPr>
        <p:spPr>
          <a:xfrm>
            <a:off x="116350" y="692813"/>
            <a:ext cx="55647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4400"/>
          </a:p>
        </p:txBody>
      </p:sp>
      <p:sp>
        <p:nvSpPr>
          <p:cNvPr id="366" name="Google Shape;366;p32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67" name="Google Shape;367;p32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/>
          </a:p>
        </p:txBody>
      </p:sp>
      <p:sp>
        <p:nvSpPr>
          <p:cNvPr id="368" name="Google Shape;368;p32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369" name="Google Shape;369;p32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370" name="Google Shape;370;p32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371" name="Google Shape;371;p32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372" name="Google Shape;372;p32"/>
          <p:cNvSpPr txBox="1"/>
          <p:nvPr/>
        </p:nvSpPr>
        <p:spPr>
          <a:xfrm>
            <a:off x="44489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373" name="Google Shape;373;p32"/>
          <p:cNvSpPr txBox="1"/>
          <p:nvPr/>
        </p:nvSpPr>
        <p:spPr>
          <a:xfrm>
            <a:off x="5103975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374" name="Google Shape;374;p32"/>
          <p:cNvSpPr txBox="1"/>
          <p:nvPr/>
        </p:nvSpPr>
        <p:spPr>
          <a:xfrm>
            <a:off x="62441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/>
          </a:p>
        </p:txBody>
      </p:sp>
      <p:sp>
        <p:nvSpPr>
          <p:cNvPr id="375" name="Google Shape;375;p32"/>
          <p:cNvSpPr txBox="1"/>
          <p:nvPr/>
        </p:nvSpPr>
        <p:spPr>
          <a:xfrm>
            <a:off x="553875" y="1677713"/>
            <a:ext cx="45501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rmAutofit fontScale="85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Thank you Dr. Sean Birkel, Shawn Laatsch, Dr. Carter Emmart, Micah Acinapura, and Dr. Terry Yoo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i="1"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Additional thanks to the Climate Change Institute and the Versant Power Astronomy Center at the University of Maine.</a:t>
            </a:r>
            <a:endParaRPr i="1"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-2237"/>
            <a:ext cx="9144003" cy="5147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642" y="692806"/>
            <a:ext cx="3762366" cy="376236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/>
          <p:nvPr/>
        </p:nvSpPr>
        <p:spPr>
          <a:xfrm>
            <a:off x="320463" y="2211093"/>
            <a:ext cx="4671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Q&amp;A</a:t>
            </a:r>
            <a:endParaRPr sz="5800"/>
          </a:p>
        </p:txBody>
      </p:sp>
      <p:sp>
        <p:nvSpPr>
          <p:cNvPr id="383" name="Google Shape;383;p33"/>
          <p:cNvSpPr txBox="1"/>
          <p:nvPr/>
        </p:nvSpPr>
        <p:spPr>
          <a:xfrm>
            <a:off x="277037" y="142013"/>
            <a:ext cx="845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V-MODEL-VIOLETS</a:t>
            </a:r>
            <a:endParaRPr sz="700">
              <a:solidFill>
                <a:srgbClr val="ABABAB"/>
              </a:solidFill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1369800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 sz="700"/>
          </a:p>
        </p:txBody>
      </p:sp>
      <p:sp>
        <p:nvSpPr>
          <p:cNvPr id="385" name="Google Shape;385;p33"/>
          <p:cNvSpPr txBox="1"/>
          <p:nvPr/>
        </p:nvSpPr>
        <p:spPr>
          <a:xfrm>
            <a:off x="2034037" y="142013"/>
            <a:ext cx="776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sz="700"/>
          </a:p>
        </p:txBody>
      </p:sp>
      <p:sp>
        <p:nvSpPr>
          <p:cNvPr id="386" name="Google Shape;386;p33"/>
          <p:cNvSpPr txBox="1"/>
          <p:nvPr/>
        </p:nvSpPr>
        <p:spPr>
          <a:xfrm>
            <a:off x="3500263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STATUS</a:t>
            </a:r>
            <a:endParaRPr sz="700"/>
          </a:p>
        </p:txBody>
      </p:sp>
      <p:sp>
        <p:nvSpPr>
          <p:cNvPr id="387" name="Google Shape;387;p33"/>
          <p:cNvSpPr txBox="1"/>
          <p:nvPr/>
        </p:nvSpPr>
        <p:spPr>
          <a:xfrm>
            <a:off x="2906319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sz="700"/>
          </a:p>
        </p:txBody>
      </p:sp>
      <p:sp>
        <p:nvSpPr>
          <p:cNvPr id="388" name="Google Shape;388;p33"/>
          <p:cNvSpPr txBox="1"/>
          <p:nvPr/>
        </p:nvSpPr>
        <p:spPr>
          <a:xfrm>
            <a:off x="4046475" y="142013"/>
            <a:ext cx="402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 sz="700"/>
          </a:p>
        </p:txBody>
      </p:sp>
      <p:sp>
        <p:nvSpPr>
          <p:cNvPr id="389" name="Google Shape;389;p33"/>
          <p:cNvSpPr txBox="1"/>
          <p:nvPr/>
        </p:nvSpPr>
        <p:spPr>
          <a:xfrm>
            <a:off x="44489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MILESTONES</a:t>
            </a:r>
            <a:endParaRPr sz="700"/>
          </a:p>
        </p:txBody>
      </p:sp>
      <p:sp>
        <p:nvSpPr>
          <p:cNvPr id="390" name="Google Shape;390;p33"/>
          <p:cNvSpPr txBox="1"/>
          <p:nvPr/>
        </p:nvSpPr>
        <p:spPr>
          <a:xfrm>
            <a:off x="5103975" y="142013"/>
            <a:ext cx="114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ABABAB"/>
                </a:solidFill>
                <a:latin typeface="Inter"/>
                <a:ea typeface="Inter"/>
                <a:cs typeface="Inter"/>
                <a:sym typeface="Inter"/>
              </a:rPr>
              <a:t>ACKNOWLEDGEMENTS</a:t>
            </a:r>
            <a:endParaRPr sz="700"/>
          </a:p>
        </p:txBody>
      </p:sp>
      <p:sp>
        <p:nvSpPr>
          <p:cNvPr id="391" name="Google Shape;391;p33"/>
          <p:cNvSpPr txBox="1"/>
          <p:nvPr/>
        </p:nvSpPr>
        <p:spPr>
          <a:xfrm>
            <a:off x="6244125" y="142013"/>
            <a:ext cx="6552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QUESTIONS</a:t>
            </a:r>
            <a:endParaRPr sz="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